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11"/>
    <p:sldId id="267" r:id="rId13"/>
    <p:sldId id="268" r:id="rId14"/>
    <p:sldId id="262" r:id="rId8"/>
    <p:sldId id="263" r:id="rId9"/>
    <p:sldId id="264" r:id="rId10"/>
    <p:sldId id="266" r:id="rId12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7.xml"/><Relationship Id="rId12" Type="http://schemas.openxmlformats.org/officeDocument/2006/relationships/slide" Target="slides/slide13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5CE"/>
          </a:solidFill>
          <a:ln w="12700">
            <a:solidFill>
              <a:srgbClr val="2EC5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CANONICALIZATION AGENT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ENDIX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41080" y="256032"/>
            <a:ext cx="2971800" cy="2971800"/>
          </a:xfrm>
          <a:prstGeom prst="ellipse">
            <a:avLst/>
          </a:prstGeom>
          <a:solidFill>
            <a:srgbClr val="163450">
              <a:alpha val="88000"/>
            </a:srgbClr>
          </a:solidFill>
          <a:ln w="12700">
            <a:solidFill>
              <a:srgbClr val="16345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281160" y="4370832"/>
            <a:ext cx="2240280" cy="2240280"/>
          </a:xfrm>
          <a:prstGeom prst="ellipse">
            <a:avLst/>
          </a:prstGeom>
          <a:solidFill>
            <a:srgbClr val="153A46">
              <a:alpha val="82000"/>
            </a:srgbClr>
          </a:solidFill>
          <a:ln w="12700">
            <a:solidFill>
              <a:srgbClr val="153A4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594360"/>
            <a:ext cx="2029968" cy="292608"/>
          </a:xfrm>
          <a:prstGeom prst="roundRect">
            <a:avLst>
              <a:gd name="adj" fmla="val 18750"/>
            </a:avLst>
          </a:prstGeom>
          <a:solidFill>
            <a:srgbClr val="14313A"/>
          </a:solidFill>
          <a:ln w="12700">
            <a:solidFill>
              <a:srgbClr val="14313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86384" y="658368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7D6"/>
                </a:solidFill>
              </a:rPr>
              <a:t>AI ENGINEERING ASSESSMENT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1216152"/>
            <a:ext cx="71323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Invoice Canonicalization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AD5E2"/>
                </a:solidFill>
              </a:rPr>
              <a:t>Deterministic first. AI only for uncertainty.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5E2"/>
                </a:solidFill>
              </a:rPr>
              <a:t>Human approvals become cheaper future knowledge.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4892040"/>
            <a:ext cx="1856232" cy="914400"/>
          </a:xfrm>
          <a:prstGeom prst="roundRect">
            <a:avLst>
              <a:gd name="adj" fmla="val 8000"/>
            </a:avLst>
          </a:prstGeom>
          <a:solidFill>
            <a:srgbClr val="10293B"/>
          </a:solidFill>
          <a:ln w="1524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504748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22C7D6"/>
                </a:solidFill>
              </a:rPr>
              <a:t>TIER 1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868680" y="5266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Approved lookup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5321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ACC"/>
                </a:solidFill>
              </a:rPr>
              <a:t>no LLM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88920" y="4892040"/>
            <a:ext cx="1856232" cy="914400"/>
          </a:xfrm>
          <a:prstGeom prst="roundRect">
            <a:avLst>
              <a:gd name="adj" fmla="val 8000"/>
            </a:avLst>
          </a:prstGeom>
          <a:solidFill>
            <a:srgbClr val="132D3D"/>
          </a:solidFill>
          <a:ln w="1524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926080" y="504748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8AB8FF"/>
                </a:solidFill>
              </a:rPr>
              <a:t>TIER 2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2926080" y="5266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Retrieval /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55321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ACC"/>
                </a:solidFill>
              </a:rPr>
              <a:t>bounded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4892040"/>
            <a:ext cx="1856232" cy="9144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 w="1524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83480" y="504748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B9A3FF"/>
                </a:solidFill>
              </a:rPr>
              <a:t>TIER 3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983480" y="5266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 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553212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ACC"/>
                </a:solidFill>
              </a:rPr>
              <a:t>governed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62362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0B7"/>
                </a:solidFill>
              </a:rPr>
              <a:t>Production-ready concept + tested reference implementation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219456"/>
            <a:ext cx="1600200" cy="310896"/>
          </a:xfrm>
          <a:prstGeom prst="roundRect">
            <a:avLst/>
          </a:prstGeom>
          <a:solidFill>
            <a:srgbClr val="22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9748"/>
            <a:ext cx="1444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STORY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109728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50" b="1">
                <a:solidFill>
                  <a:srgbClr val="0B1320"/>
                </a:solidFill>
                <a:latin typeface="Aptos Display"/>
              </a:rPr>
              <a:t>Every product is checked before canonicalization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07899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667085"/>
                </a:solidFill>
                <a:latin typeface="Aptos"/>
              </a:rPr>
              <a:t>Known or wild, the same extraction and arithmetic quality gate runs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97180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92224"/>
            <a:ext cx="2377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THE BUSINESS MESS</a:t>
            </a:r>
          </a:p>
        </p:txBody>
      </p:sp>
      <p:pic>
        <p:nvPicPr>
          <p:cNvPr id="8" name="Picture 7" descr="problem.png"/>
          <p:cNvPicPr>
            <a:picLocks noChangeAspect="1"/>
          </p:cNvPicPr>
          <p:nvPr/>
        </p:nvPicPr>
        <p:blipFill>
          <a:blip r:embed="rId6"/>
          <a:srcRect l="8207" r="8207"/>
          <a:stretch>
            <a:fillRect/>
          </a:stretch>
        </p:blipFill>
        <p:spPr>
          <a:xfrm>
            <a:off x="795528" y="2103120"/>
            <a:ext cx="2505456" cy="15179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3822191"/>
            <a:ext cx="24963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0"/>
                </a:solidFill>
                <a:latin typeface="Aptos"/>
              </a:rPr>
              <a:t>Invoices arrive with noisy descriptions and full financial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636008"/>
            <a:ext cx="24963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60" b="0">
                <a:solidFill>
                  <a:srgbClr val="667085"/>
                </a:solidFill>
                <a:latin typeface="Aptos"/>
              </a:rPr>
              <a:t>If extraction is wrong, every downstream match starts from bad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572768"/>
            <a:ext cx="7589520" cy="4462272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792224"/>
            <a:ext cx="2926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ptos"/>
              </a:rPr>
              <a:t>UNIVERSAL QUALITY GATE</a:t>
            </a:r>
          </a:p>
        </p:txBody>
      </p:sp>
      <p:pic>
        <p:nvPicPr>
          <p:cNvPr id="13" name="Picture 12" descr="quality_all.png"/>
          <p:cNvPicPr>
            <a:picLocks noChangeAspect="1"/>
          </p:cNvPicPr>
          <p:nvPr/>
        </p:nvPicPr>
        <p:blipFill>
          <a:blip r:embed="rId7"/>
          <a:srcRect t="13886" b="13886"/>
          <a:stretch>
            <a:fillRect/>
          </a:stretch>
        </p:blipFill>
        <p:spPr>
          <a:xfrm>
            <a:off x="4023360" y="2103120"/>
            <a:ext cx="7040880" cy="1572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23360" y="3877056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20" b="1">
                <a:solidFill>
                  <a:srgbClr val="0B1320"/>
                </a:solidFill>
                <a:latin typeface="Aptos"/>
              </a:rPr>
              <a:t>Every line — tamed or wild — is checked first</a:t>
            </a:r>
          </a:p>
        </p:txBody>
      </p:sp>
      <p:sp>
        <p:nvSpPr>
          <p:cNvPr id="15" name="Oval 14"/>
          <p:cNvSpPr/>
          <p:nvPr/>
        </p:nvSpPr>
        <p:spPr>
          <a:xfrm>
            <a:off x="4041648" y="4471416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4443984"/>
            <a:ext cx="6217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67085"/>
                </a:solidFill>
                <a:latin typeface="Aptos"/>
              </a:rPr>
              <a:t>quantity × unit price = line total</a:t>
            </a:r>
          </a:p>
        </p:txBody>
      </p:sp>
      <p:sp>
        <p:nvSpPr>
          <p:cNvPr id="17" name="Oval 16"/>
          <p:cNvSpPr/>
          <p:nvPr/>
        </p:nvSpPr>
        <p:spPr>
          <a:xfrm>
            <a:off x="4041648" y="4837176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4809744"/>
            <a:ext cx="6217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67085"/>
                </a:solidFill>
                <a:latin typeface="Aptos"/>
              </a:rPr>
              <a:t>Σ line totals = subtotal</a:t>
            </a:r>
          </a:p>
        </p:txBody>
      </p:sp>
      <p:sp>
        <p:nvSpPr>
          <p:cNvPr id="19" name="Oval 18"/>
          <p:cNvSpPr/>
          <p:nvPr/>
        </p:nvSpPr>
        <p:spPr>
          <a:xfrm>
            <a:off x="4041648" y="5202936"/>
            <a:ext cx="118872" cy="118872"/>
          </a:xfrm>
          <a:prstGeom prst="ellipse">
            <a:avLst/>
          </a:prstGeom>
          <a:solidFill>
            <a:srgbClr val="22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5175504"/>
            <a:ext cx="6217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67085"/>
                </a:solidFill>
                <a:latin typeface="Aptos"/>
              </a:rPr>
              <a:t>discount / tax / shipping reconciled separately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632704"/>
            <a:ext cx="6583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60" b="1">
                <a:solidFill>
                  <a:srgbClr val="22C55E"/>
                </a:solidFill>
                <a:latin typeface="Aptos"/>
              </a:rPr>
              <a:t>Only clean product-line evidence enters canonicalization.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219456"/>
            <a:ext cx="1600200" cy="310896"/>
          </a:xfrm>
          <a:prstGeom prst="roundRect">
            <a:avLst/>
          </a:prstGeom>
          <a:solidFill>
            <a:srgbClr val="22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9748"/>
            <a:ext cx="1444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STORY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50" b="1">
                <a:solidFill>
                  <a:srgbClr val="0B1320"/>
                </a:solidFill>
                <a:latin typeface="Aptos Display"/>
              </a:rPr>
              <a:t>Known = fast lane. Unknown = uncertainty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069848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0">
                <a:solidFill>
                  <a:srgbClr val="667085"/>
                </a:solidFill>
                <a:latin typeface="Aptos"/>
              </a:rPr>
              <a:t>After the same quality gate, approved aliases are deterministic; only unknowns see retrieval or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154680" cy="4498848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92224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ptos"/>
              </a:rPr>
              <a:t>KNOWN / TAMED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rcRect l="17928" r="17928"/>
          <a:stretch>
            <a:fillRect/>
          </a:stretch>
        </p:blipFill>
        <p:spPr>
          <a:xfrm>
            <a:off x="804672" y="2084831"/>
            <a:ext cx="2679192" cy="1444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" y="3721608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20" b="1">
                <a:solidFill>
                  <a:srgbClr val="0B1320"/>
                </a:solidFill>
                <a:latin typeface="Aptos"/>
              </a:rPr>
              <a:t>Approved 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133087"/>
            <a:ext cx="2560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Aptos"/>
              </a:rPr>
              <a:t>Exact tenant-scoped alias → stable canonical product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5102352"/>
            <a:ext cx="1965960" cy="47548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221224"/>
            <a:ext cx="18105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0 LLM CALLS · FAST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9352" y="1554480"/>
            <a:ext cx="2880360" cy="449884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7096" y="1792224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Aptos"/>
              </a:rPr>
              <a:t>UNKNOWN / WILD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rcRect l="17296" r="17296"/>
          <a:stretch>
            <a:fillRect/>
          </a:stretch>
        </p:blipFill>
        <p:spPr>
          <a:xfrm>
            <a:off x="4197096" y="2084831"/>
            <a:ext cx="2404872" cy="1444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97096" y="3721608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20" b="1">
                <a:solidFill>
                  <a:srgbClr val="0B1320"/>
                </a:solidFill>
                <a:latin typeface="Aptos"/>
              </a:rPr>
              <a:t>Fast lane blocked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4224528"/>
            <a:ext cx="23317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>
                <a:solidFill>
                  <a:srgbClr val="667085"/>
                </a:solidFill>
                <a:latin typeface="Aptos"/>
              </a:rPr>
              <a:t>Unknown is routed deliberately — not treated as a failed invoice.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7096" y="5102352"/>
            <a:ext cx="1993392" cy="47548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5221224"/>
            <a:ext cx="18470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Aptos"/>
              </a:rPr>
              <a:t>UNCERTAINTY ROUTE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7456" y="1554480"/>
            <a:ext cx="4261104" cy="44988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792224"/>
            <a:ext cx="2743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TIER 2 · UNCERTAINTY LAB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rcRect l="22021" r="22021"/>
          <a:stretch>
            <a:fillRect/>
          </a:stretch>
        </p:blipFill>
        <p:spPr>
          <a:xfrm>
            <a:off x="7315200" y="2084831"/>
            <a:ext cx="1389888" cy="7680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69680" y="2203703"/>
            <a:ext cx="201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1">
                <a:solidFill>
                  <a:srgbClr val="0B1320"/>
                </a:solidFill>
                <a:latin typeface="Aptos"/>
              </a:rPr>
              <a:t>Approved knowledge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rcRect l="22998" r="22998"/>
          <a:stretch>
            <a:fillRect/>
          </a:stretch>
        </p:blipFill>
        <p:spPr>
          <a:xfrm>
            <a:off x="7315200" y="3163824"/>
            <a:ext cx="1389888" cy="7680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69680" y="3282696"/>
            <a:ext cx="201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2735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1">
                <a:solidFill>
                  <a:srgbClr val="0B1320"/>
                </a:solidFill>
                <a:latin typeface="Aptos"/>
              </a:rPr>
              <a:t>Retrieve evidence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rcRect l="20357" r="20357"/>
          <a:stretch>
            <a:fillRect/>
          </a:stretch>
        </p:blipFill>
        <p:spPr>
          <a:xfrm>
            <a:off x="7315200" y="4242816"/>
            <a:ext cx="1389888" cy="7680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69680" y="4361688"/>
            <a:ext cx="201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43525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60" b="1">
                <a:solidFill>
                  <a:srgbClr val="0B1320"/>
                </a:solidFill>
                <a:latin typeface="Aptos"/>
              </a:rPr>
              <a:t>Bounded AI / abstain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404104"/>
            <a:ext cx="35844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3B82F6"/>
                </a:solidFill>
                <a:latin typeface="Aptos"/>
              </a:rPr>
              <a:t>Investigate once → promote approved knowledge → next time use Tier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219456"/>
            <a:ext cx="1600200" cy="310896"/>
          </a:xfrm>
          <a:prstGeom prst="roundRect">
            <a:avLst/>
          </a:prstGeom>
          <a:solidFill>
            <a:srgbClr val="22C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69748"/>
            <a:ext cx="1444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STORY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57784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50" b="1">
                <a:solidFill>
                  <a:srgbClr val="0B1320"/>
                </a:solidFill>
                <a:latin typeface="Aptos Display"/>
              </a:rPr>
              <a:t>Approval turns a wild product into reusable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069848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80" b="0">
                <a:solidFill>
                  <a:srgbClr val="667085"/>
                </a:solidFill>
                <a:latin typeface="Aptos"/>
              </a:rPr>
              <a:t>First cycle: evidence + review. Second cycle: exact alias, no model, no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675887" cy="449884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92224"/>
            <a:ext cx="14630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Aptos"/>
              </a:rPr>
              <a:t>FIRST CYCLE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rcRect l="13748" r="13748"/>
          <a:stretch>
            <a:fillRect/>
          </a:stretch>
        </p:blipFill>
        <p:spPr>
          <a:xfrm>
            <a:off x="804672" y="2084831"/>
            <a:ext cx="3200400" cy="1353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" y="363931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30" b="1">
                <a:solidFill>
                  <a:srgbClr val="0B1320"/>
                </a:solidFill>
                <a:latin typeface="Aptos"/>
              </a:rPr>
              <a:t>Human approves the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4242816"/>
            <a:ext cx="2926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352544"/>
            <a:ext cx="2688336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ptos"/>
              </a:rPr>
              <a:t>Black Leather Jacket Midnight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608576"/>
            <a:ext cx="26883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10" b="1">
                <a:solidFill>
                  <a:srgbClr val="8B5CF6"/>
                </a:solidFill>
                <a:latin typeface="Aptos"/>
              </a:rPr>
              <a:t>↓  Black Leather Jacket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202936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>
                <a:solidFill>
                  <a:srgbClr val="8B5CF6"/>
                </a:solidFill>
                <a:latin typeface="Aptos"/>
              </a:rPr>
              <a:t>Approval is promoted to the tenant-scoped alias registry.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3246120"/>
            <a:ext cx="457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22C7D6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94760"/>
            <a:ext cx="6217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2C7D6"/>
                </a:solidFill>
                <a:latin typeface="Aptos"/>
              </a:rPr>
              <a:t>LEARN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19472" y="1554480"/>
            <a:ext cx="6419088" cy="4498848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1792224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Aptos"/>
              </a:rPr>
              <a:t>SECOND CYCLE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rcRect l="15090" r="15090"/>
          <a:stretch>
            <a:fillRect/>
          </a:stretch>
        </p:blipFill>
        <p:spPr>
          <a:xfrm>
            <a:off x="5175504" y="2084831"/>
            <a:ext cx="5907024" cy="11338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75504" y="34381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B1320"/>
                </a:solidFill>
                <a:latin typeface="Aptos"/>
              </a:rPr>
              <a:t>Next time: exact alias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3968496"/>
            <a:ext cx="12618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368" y="4105656"/>
            <a:ext cx="1152144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480560"/>
            <a:ext cx="11521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667085"/>
                </a:solidFill>
                <a:latin typeface="Aptos"/>
              </a:rPr>
              <a:t>LLM calls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7688" y="3968496"/>
            <a:ext cx="12618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4105656"/>
            <a:ext cx="1152144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4480560"/>
            <a:ext cx="11521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667085"/>
                </a:solidFill>
                <a:latin typeface="Aptos"/>
              </a:rPr>
              <a:t>human reviews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3968496"/>
            <a:ext cx="12618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4105656"/>
            <a:ext cx="1152144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"/>
              </a:rP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480560"/>
            <a:ext cx="11521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667085"/>
                </a:solidFill>
                <a:latin typeface="Aptos"/>
              </a:rPr>
              <a:t>model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2056" y="3968496"/>
            <a:ext cx="12618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4105656"/>
            <a:ext cx="1152144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4480560"/>
            <a:ext cx="11521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667085"/>
                </a:solidFill>
                <a:latin typeface="Aptos"/>
              </a:rPr>
              <a:t>cost curve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4" y="5340096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1">
                <a:solidFill>
                  <a:srgbClr val="22C55E"/>
                </a:solidFill>
                <a:latin typeface="Aptos"/>
              </a:rPr>
              <a:t>Model spend follows unique unresolved concepts — not repeated invoice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261872" cy="228600"/>
          </a:xfrm>
          <a:prstGeom prst="roundRect">
            <a:avLst>
              <a:gd name="adj" fmla="val 20000"/>
            </a:avLst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67005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FFFFFF"/>
                </a:solidFill>
              </a:rPr>
              <a:t>ARCHITECTURE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Three-tier canonicalization architecture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story maps directly to three production tiers; delivery primitives stay outside the business logic.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45952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6093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667085"/>
                </a:solidFill>
              </a:rPr>
              <a:t>DELIVERY PRIMITIVES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404872" y="1536192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478024" y="160020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REST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630168" y="1536192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03320" y="160020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MCP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855464" y="1536192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28616" y="160020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Docker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080760" y="1536192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53912" y="160020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CI/CD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306056" y="1536192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79208" y="1600200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PostgreSQL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59536" y="2304288"/>
            <a:ext cx="299923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7FAFC"/>
            </a:solidFill>
            <a:prstDash val="solid"/>
          </a:ln>
          <a:effectLst>
            <a:outerShdw sx="100000" sy="100000" kx="0" ky="0" algn="bl" rotWithShape="0" blurRad="12700" dist="50800" dir="2700000">
              <a:srgbClr val="AAB4C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24128" y="24688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24128" y="2551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9344" y="247802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0"/>
                </a:solidFill>
              </a:rPr>
              <a:t>Deterministic lookup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609344" y="28254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cache + approved tenant alias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24128" y="3328416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E7FAFC"/>
          </a:solidFill>
          <a:ln w="12700">
            <a:solidFill>
              <a:srgbClr val="E7FAF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97280" y="3392424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C7D6"/>
                </a:solidFill>
              </a:rPr>
              <a:t>default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1056132" y="387248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88720" y="37947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4054"/>
                </a:solidFill>
              </a:rPr>
              <a:t>stable product ID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1056132" y="423824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88720" y="41605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4054"/>
                </a:solidFill>
              </a:rPr>
              <a:t>zero model call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1056132" y="460400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88720" y="45262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4054"/>
                </a:solidFill>
              </a:rPr>
              <a:t>highest trust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590288" y="2304288"/>
            <a:ext cx="299923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C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754880" y="24688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54880" y="2551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247802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0"/>
                </a:solidFill>
              </a:rPr>
              <a:t>Retrieval / AI / abstain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5340096" y="28254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approved-only evidence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328416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828032" y="3392424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B82F6"/>
                </a:solidFill>
              </a:rPr>
              <a:t>uncertain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786884" y="387248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919472" y="37947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4054"/>
                </a:solidFill>
              </a:rPr>
              <a:t>dedupe candidate first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4786884" y="423824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919472" y="41605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4054"/>
                </a:solidFill>
              </a:rPr>
              <a:t>strong retrieval can skip LLM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4786884" y="460400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919472" y="45262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4054"/>
                </a:solidFill>
              </a:rPr>
              <a:t>bounded proposal or abstain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8321040" y="2304288"/>
            <a:ext cx="299923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1ECF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C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8485632" y="24688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485632" y="2551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070848" y="247802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320"/>
                </a:solidFill>
              </a:rPr>
              <a:t>Human knowledge loop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9070848" y="28254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weekly unique-concept review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485632" y="3328416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58784" y="3392424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B5CF6"/>
                </a:solidFill>
              </a:rPr>
              <a:t>learning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8517636" y="387248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650224" y="379476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4054"/>
                </a:solidFill>
              </a:rPr>
              <a:t>approve / edit / redirect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8517636" y="423824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650224" y="41605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4054"/>
                </a:solidFill>
              </a:rPr>
              <a:t>reject stays untrusted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8517636" y="460400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650224" y="45262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44054"/>
                </a:solidFill>
              </a:rPr>
              <a:t>promote exact alias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3877056" y="3657600"/>
            <a:ext cx="658368" cy="0"/>
          </a:xfrm>
          <a:prstGeom prst="line">
            <a:avLst/>
          </a:prstGeom>
          <a:noFill/>
          <a:ln w="2032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607808" y="3657600"/>
            <a:ext cx="658368" cy="0"/>
          </a:xfrm>
          <a:prstGeom prst="line">
            <a:avLst/>
          </a:prstGeom>
          <a:noFill/>
          <a:ln w="2032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9802368" y="5084064"/>
            <a:ext cx="0" cy="393192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802368" y="5477256"/>
            <a:ext cx="-74523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2350008" y="5477256"/>
            <a:ext cx="0" cy="-50292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617720" y="52669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approved decisions return to Tier 1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04672" y="5925312"/>
            <a:ext cx="10515600" cy="438912"/>
          </a:xfrm>
          <a:prstGeom prst="roundRect">
            <a:avLst>
              <a:gd name="adj" fmla="val 16667"/>
            </a:avLst>
          </a:prstGeom>
          <a:solidFill>
            <a:srgbClr val="F2FBFF"/>
          </a:solidFill>
          <a:ln w="12700">
            <a:solidFill>
              <a:srgbClr val="D6F1F5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005840" y="6044184"/>
            <a:ext cx="10104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344054"/>
                </a:solidFill>
              </a:rPr>
              <a:t>Story -&gt; code: Approved Lookup = approved aliases | Uncertainty Lab = approved retrieval + bounded AI / abstention | Human Approval = review queue -&gt; knowledge promotion.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261872" cy="228600"/>
          </a:xfrm>
          <a:prstGeom prst="roundRect">
            <a:avLst>
              <a:gd name="adj" fmla="val 20000"/>
            </a:avLst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67005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FFFFFF"/>
                </a:solidFill>
              </a:rPr>
              <a:t>EVIDENCE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file: integration smoke test, not ML accuracy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mappings are seeded approved aliases - this verifies deterministic replay and extraction integrity.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767328" cy="4498848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mnt/data/invoice_canonicalization_assets/challenge/pa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783" y="1600200"/>
            <a:ext cx="3179618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53712" y="1417320"/>
            <a:ext cx="70591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82312" y="16459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Deterministic replay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91456" y="205740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</a:rPr>
              <a:t>Highlife Steel Accessories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7260336" y="2148840"/>
            <a:ext cx="402336" cy="0"/>
          </a:xfrm>
          <a:prstGeom prst="line">
            <a:avLst/>
          </a:prstGeom>
          <a:noFill/>
          <a:ln w="13970">
            <a:solidFill>
              <a:srgbClr val="22C7D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754112" y="20574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B1320"/>
                </a:solidFill>
              </a:rPr>
              <a:t>Highlife Components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10378440" y="20574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NO LLM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791456" y="245059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</a:rPr>
              <a:t>Sneaker “Unstoppable”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7260336" y="2542032"/>
            <a:ext cx="402336" cy="0"/>
          </a:xfrm>
          <a:prstGeom prst="line">
            <a:avLst/>
          </a:prstGeom>
          <a:noFill/>
          <a:ln w="13970">
            <a:solidFill>
              <a:srgbClr val="22C7D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754112" y="24505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B1320"/>
                </a:solidFill>
              </a:rPr>
              <a:t>Performance Sneakers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10378440" y="2450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NO LLM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791456" y="284378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</a:rPr>
              <a:t>T-Shirt White “Polarbear”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7260336" y="2935224"/>
            <a:ext cx="402336" cy="0"/>
          </a:xfrm>
          <a:prstGeom prst="line">
            <a:avLst/>
          </a:prstGeom>
          <a:noFill/>
          <a:ln w="13970">
            <a:solidFill>
              <a:srgbClr val="22C7D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754112" y="2843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B1320"/>
                </a:solidFill>
              </a:rPr>
              <a:t>White Tee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10378440" y="28437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NO LLM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91456" y="323697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</a:rPr>
              <a:t>T-Shirt Beige “Grizzly”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7260336" y="3328416"/>
            <a:ext cx="402336" cy="0"/>
          </a:xfrm>
          <a:prstGeom prst="line">
            <a:avLst/>
          </a:prstGeom>
          <a:noFill/>
          <a:ln w="13970">
            <a:solidFill>
              <a:srgbClr val="22C7D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754112" y="32369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B1320"/>
                </a:solidFill>
              </a:rPr>
              <a:t>Beige Tee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0378440" y="32369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NO LLM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791456" y="36301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</a:rPr>
              <a:t>Shorts “El Camino”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7260336" y="3721608"/>
            <a:ext cx="402336" cy="0"/>
          </a:xfrm>
          <a:prstGeom prst="line">
            <a:avLst/>
          </a:prstGeom>
          <a:noFill/>
          <a:ln w="13970">
            <a:solidFill>
              <a:srgbClr val="22C7D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754112" y="36301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B1320"/>
                </a:solidFill>
              </a:rPr>
              <a:t>Casual Shorts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10378440" y="36301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NO LLM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791456" y="402336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</a:rPr>
              <a:t>Socks, black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7260336" y="4114800"/>
            <a:ext cx="402336" cy="0"/>
          </a:xfrm>
          <a:prstGeom prst="line">
            <a:avLst/>
          </a:prstGeom>
          <a:noFill/>
          <a:ln w="13970">
            <a:solidFill>
              <a:srgbClr val="22C7D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754112" y="40233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B1320"/>
                </a:solidFill>
              </a:rPr>
              <a:t>Crew Socks</a:t>
            </a:r>
            <a:endParaRPr lang="en-US" sz="940" dirty="0"/>
          </a:p>
        </p:txBody>
      </p:sp>
      <p:sp>
        <p:nvSpPr>
          <p:cNvPr id="33" name="Text 30"/>
          <p:cNvSpPr/>
          <p:nvPr/>
        </p:nvSpPr>
        <p:spPr>
          <a:xfrm>
            <a:off x="10378440" y="40233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NO LLM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4572000" y="5010912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718304" y="5120640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C7D6"/>
                </a:solidFill>
              </a:rPr>
              <a:t>6 / 6</a:t>
            </a:r>
            <a:endParaRPr lang="en-US" sz="2500" dirty="0"/>
          </a:p>
        </p:txBody>
      </p:sp>
      <p:sp>
        <p:nvSpPr>
          <p:cNvPr id="36" name="Text 33"/>
          <p:cNvSpPr/>
          <p:nvPr/>
        </p:nvSpPr>
        <p:spPr>
          <a:xfrm>
            <a:off x="4700016" y="549554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seeded aliases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700016" y="576072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smoke test</a:t>
            </a:r>
            <a:endParaRPr lang="en-US" sz="740" dirty="0"/>
          </a:p>
        </p:txBody>
      </p:sp>
      <p:sp>
        <p:nvSpPr>
          <p:cNvPr id="38" name="Shape 35"/>
          <p:cNvSpPr/>
          <p:nvPr/>
        </p:nvSpPr>
        <p:spPr>
          <a:xfrm>
            <a:off x="6345936" y="5010912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492240" y="5120640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C55E"/>
                </a:solidFill>
              </a:rPr>
              <a:t>0</a:t>
            </a:r>
            <a:endParaRPr lang="en-US" sz="2500" dirty="0"/>
          </a:p>
        </p:txBody>
      </p:sp>
      <p:sp>
        <p:nvSpPr>
          <p:cNvPr id="40" name="Text 37"/>
          <p:cNvSpPr/>
          <p:nvPr/>
        </p:nvSpPr>
        <p:spPr>
          <a:xfrm>
            <a:off x="6473952" y="549554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LLM calls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473952" y="576072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canonicalization</a:t>
            </a:r>
            <a:endParaRPr lang="en-US" sz="740" dirty="0"/>
          </a:p>
        </p:txBody>
      </p:sp>
      <p:sp>
        <p:nvSpPr>
          <p:cNvPr id="42" name="Shape 39"/>
          <p:cNvSpPr/>
          <p:nvPr/>
        </p:nvSpPr>
        <p:spPr>
          <a:xfrm>
            <a:off x="8119872" y="5010912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8266176" y="5120640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</a:rPr>
              <a:t>PASS</a:t>
            </a:r>
            <a:endParaRPr lang="en-US" sz="2500" dirty="0"/>
          </a:p>
        </p:txBody>
      </p:sp>
      <p:sp>
        <p:nvSpPr>
          <p:cNvPr id="44" name="Text 41"/>
          <p:cNvSpPr/>
          <p:nvPr/>
        </p:nvSpPr>
        <p:spPr>
          <a:xfrm>
            <a:off x="8247888" y="549554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extraction gate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247888" y="576072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6/6 row equations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9893808" y="5010912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10040112" y="5120640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B5CF6"/>
                </a:solidFill>
              </a:rPr>
              <a:t>280=280</a:t>
            </a:r>
            <a:endParaRPr lang="en-US" sz="2500" dirty="0"/>
          </a:p>
        </p:txBody>
      </p:sp>
      <p:sp>
        <p:nvSpPr>
          <p:cNvPr id="48" name="Text 45"/>
          <p:cNvSpPr/>
          <p:nvPr/>
        </p:nvSpPr>
        <p:spPr>
          <a:xfrm>
            <a:off x="10021824" y="549554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subtotal check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10021824" y="576072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Decimal</a:t>
            </a:r>
            <a:endParaRPr lang="en-US" sz="740" dirty="0"/>
          </a:p>
        </p:txBody>
      </p:sp>
      <p:sp>
        <p:nvSpPr>
          <p:cNvPr id="50" name="Text 47"/>
          <p:cNvSpPr/>
          <p:nvPr/>
        </p:nvSpPr>
        <p:spPr>
          <a:xfrm>
            <a:off x="4617720" y="6217920"/>
            <a:ext cx="6720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Interpretation: proves integration + deterministic replay. It does not estimate unseen-model accuracy.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261872" cy="228600"/>
          </a:xfrm>
          <a:prstGeom prst="roundRect">
            <a:avLst>
              <a:gd name="adj" fmla="val 20000"/>
            </a:avLst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67005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FFFFFF"/>
                </a:solidFill>
              </a:rPr>
              <a:t>RESULTS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reliability: regression gates, not vanity metrics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distinguish deterministic smoke tests from model-quality claims.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202996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5727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C7D6"/>
                </a:solidFill>
              </a:rPr>
              <a:t>107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19476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tests passed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4944" y="221284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full offline gate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724912" y="1463040"/>
            <a:ext cx="202996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871216" y="15727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B82F6"/>
                </a:solidFill>
              </a:rPr>
              <a:t>26→1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852928" y="19476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repeated unknowns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52928" y="221284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observations → proposal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882896" y="1463040"/>
            <a:ext cx="202996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0" y="15727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B5CF6"/>
                </a:solidFill>
              </a:rPr>
              <a:t>11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010912" y="19476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routing cases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912" y="221284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curated regression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040880" y="1463040"/>
            <a:ext cx="202996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87184" y="15727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C55E"/>
                </a:solidFill>
              </a:rPr>
              <a:t>100%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168896" y="19476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routing accuracy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68896" y="221284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on curated cases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9198864" y="1463040"/>
            <a:ext cx="202996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45168" y="15727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</a:rPr>
              <a:t>0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9326880" y="194767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4054"/>
                </a:solidFill>
              </a:rPr>
              <a:t>unexpected LLM calls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26880" y="221284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target 0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566928" y="2834640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1248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What the results prove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1540" y="3680460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24128" y="360273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approved knowledge replays deterministically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1540" y="4037076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24128" y="395935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routing chooses the intended path in regression cases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1540" y="439369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24128" y="4315968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repeated unknowns do not trigger repeated model calls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1540" y="4750308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24128" y="4672584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unsafe input can abstain before generation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1540" y="510692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24128" y="5029200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package builds and installs in isolation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82512" y="2834640"/>
            <a:ext cx="5230368" cy="2560320"/>
          </a:xfrm>
          <a:prstGeom prst="roundRect">
            <a:avLst>
              <a:gd name="adj" fmla="val 2857"/>
            </a:avLst>
          </a:prstGeom>
          <a:solidFill>
            <a:srgbClr val="FFF8EE"/>
          </a:solidFill>
          <a:ln w="12700">
            <a:solidFill>
              <a:srgbClr val="F6DFA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647688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What we do NOT claim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688836" y="3680460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821424" y="3602736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6/6 challenge = ML accuracy (it is a seeded smoke test)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6688836" y="410108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821424" y="4023360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11 cases predict production accuracy at scale</a:t>
            </a:r>
            <a:endParaRPr lang="en-US" sz="1070" dirty="0"/>
          </a:p>
        </p:txBody>
      </p:sp>
      <p:sp>
        <p:nvSpPr>
          <p:cNvPr id="44" name="Shape 42"/>
          <p:cNvSpPr/>
          <p:nvPr/>
        </p:nvSpPr>
        <p:spPr>
          <a:xfrm>
            <a:off x="6688836" y="4521708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821424" y="4443984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vector RAG outperforms lexical retrieval (not benchmarked)</a:t>
            </a:r>
            <a:endParaRPr lang="en-US" sz="1070" dirty="0"/>
          </a:p>
        </p:txBody>
      </p:sp>
      <p:sp>
        <p:nvSpPr>
          <p:cNvPr id="46" name="Shape 44"/>
          <p:cNvSpPr/>
          <p:nvPr/>
        </p:nvSpPr>
        <p:spPr>
          <a:xfrm>
            <a:off x="6688836" y="494233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821424" y="4864608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live model cost/latency is validated by offline fixtures</a:t>
            </a:r>
            <a:endParaRPr lang="en-US" sz="1070" dirty="0"/>
          </a:p>
        </p:txBody>
      </p:sp>
      <p:sp>
        <p:nvSpPr>
          <p:cNvPr id="48" name="Shape 46"/>
          <p:cNvSpPr/>
          <p:nvPr/>
        </p:nvSpPr>
        <p:spPr>
          <a:xfrm>
            <a:off x="566928" y="5669280"/>
            <a:ext cx="11045952" cy="530352"/>
          </a:xfrm>
          <a:prstGeom prst="roundRect">
            <a:avLst>
              <a:gd name="adj" fmla="val 13793"/>
            </a:avLst>
          </a:prstGeom>
          <a:solidFill>
            <a:srgbClr val="F6F8FB"/>
          </a:solidFill>
          <a:ln w="12700">
            <a:solidFill>
              <a:srgbClr val="DCE4ED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41248" y="583387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Engineering gate: 83% branch-aware coverage (threshold &gt;= 80%). Ruff, mypy, and Docker were unavailable locally; strict CI / make assess-full requires them.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261872" cy="228600"/>
          </a:xfrm>
          <a:prstGeom prst="roundRect">
            <a:avLst>
              <a:gd name="adj" fmla="val 20000"/>
            </a:avLst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67005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FFFFFF"/>
                </a:solidFill>
              </a:rPr>
              <a:t>CONCLUSION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stronger than the original brief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stays faithful to the simple requirement while proving a credible path to production.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138928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1248" y="1755648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819656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ORIGINAL ASSIGNMENT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91540" y="2482596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2404872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same invoice should produce one reproducible description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" y="309524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24128" y="301752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different clients and business partners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" y="370789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24128" y="363016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conceptualize a solution; prototype optional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1540" y="4320540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24128" y="4242816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fix randomness from direct LLM generation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98464" y="1481328"/>
            <a:ext cx="5614416" cy="4343400"/>
          </a:xfrm>
          <a:prstGeom prst="roundRect">
            <a:avLst>
              <a:gd name="adj" fmla="val 1684"/>
            </a:avLst>
          </a:prstGeom>
          <a:solidFill>
            <a:srgbClr val="F1FBF7"/>
          </a:solidFill>
          <a:ln w="12700">
            <a:solidFill>
              <a:srgbClr val="CDEED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91072" y="1755648"/>
            <a:ext cx="1207008" cy="292608"/>
          </a:xfrm>
          <a:prstGeom prst="roundRect">
            <a:avLst>
              <a:gd name="adj" fmla="val 18750"/>
            </a:avLst>
          </a:prstGeom>
          <a:solidFill>
            <a:srgbClr val="EAFBF0"/>
          </a:solidFill>
          <a:ln w="12700">
            <a:solidFill>
              <a:srgbClr val="EAFB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64224" y="1819656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OUR RESPONSE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41364" y="238201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73952" y="23042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44054"/>
                </a:solidFill>
              </a:rPr>
              <a:t>approved canonical IDs + aliases make replay deterministic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6341364" y="293065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73952" y="28529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44054"/>
                </a:solidFill>
              </a:rPr>
              <a:t>tenant-specific taxonomy prevents client collisions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6341364" y="347929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73952" y="3401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44054"/>
                </a:solidFill>
              </a:rPr>
              <a:t>AI is bounded to the unknown tail and deduplicated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6341364" y="402793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73952" y="3950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44054"/>
                </a:solidFill>
              </a:rPr>
              <a:t>human decisions become trusted future exact matches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6341364" y="457657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73952" y="44988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344054"/>
                </a:solidFill>
              </a:rPr>
              <a:t>operational guardrails + packaging demonstrate production readiness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713232" y="60899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60" kern="0" dirty="0">
                <a:solidFill>
                  <a:srgbClr val="22C7D6"/>
                </a:solidFill>
              </a:rPr>
              <a:t>THE TAKEAWAY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1947672" y="598017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320"/>
                </a:solidFill>
              </a:rPr>
              <a:t>The goal is not to make the LLM more consistent. It is to need the LLM less often.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49808" y="100584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2B2148"/>
          </a:solidFill>
          <a:ln w="12700">
            <a:solidFill>
              <a:srgbClr val="2B214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069848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APPENDIX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1572768"/>
            <a:ext cx="6583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Technical depth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when the interviewer asks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DDA"/>
                </a:solidFill>
              </a:rPr>
              <a:t>Unknown lifecycle, review workflow, tenant isolation, delivery packaging, testing, retrieval, security, CI/CD, and limitations.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" y="480060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41C3B"/>
          </a:solidFill>
          <a:ln w="12700">
            <a:solidFill>
              <a:srgbClr val="241C3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4864608"/>
            <a:ext cx="1865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9A3FF"/>
                </a:solidFill>
              </a:rPr>
              <a:t>18-stage quality contract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035808" y="480060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41C3B"/>
          </a:solidFill>
          <a:ln w="12700">
            <a:solidFill>
              <a:srgbClr val="241C3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08960" y="4864608"/>
            <a:ext cx="1865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9A3FF"/>
                </a:solidFill>
              </a:rPr>
              <a:t>test matrix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303520" y="480060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41C3B"/>
          </a:solidFill>
          <a:ln w="12700">
            <a:solidFill>
              <a:srgbClr val="241C3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76672" y="4864608"/>
            <a:ext cx="1865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9A3FF"/>
                </a:solidFill>
              </a:rPr>
              <a:t>security + cost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68096" y="530352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41C3B"/>
          </a:solidFill>
          <a:ln w="12700">
            <a:solidFill>
              <a:srgbClr val="241C3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5367528"/>
            <a:ext cx="1865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9A3FF"/>
                </a:solidFill>
              </a:rPr>
              <a:t>retrieval / RAG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035808" y="530352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41C3B"/>
          </a:solidFill>
          <a:ln w="12700">
            <a:solidFill>
              <a:srgbClr val="241C3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108960" y="5367528"/>
            <a:ext cx="1865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9A3FF"/>
                </a:solidFill>
              </a:rPr>
              <a:t>review data model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303520" y="530352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41C3B"/>
          </a:solidFill>
          <a:ln w="12700">
            <a:solidFill>
              <a:srgbClr val="241C3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76672" y="5367528"/>
            <a:ext cx="1865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9A3FF"/>
                </a:solidFill>
              </a:rPr>
              <a:t>limitations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261872" cy="228600"/>
          </a:xfrm>
          <a:prstGeom prst="roundRect">
            <a:avLst>
              <a:gd name="adj" fmla="val 20000"/>
            </a:avLst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67005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FFFFFF"/>
                </a:solidFill>
              </a:rPr>
              <a:t>UNKNOWNS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unseen description uses AI once - then becomes deterministic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pending concept is reused before approval; approval converts it into exact knowledge.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216152" y="213055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33856" y="21762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1248" y="276148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320"/>
                </a:solidFill>
              </a:rPr>
              <a:t>New description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41248" y="311810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Black Leather Jacket Midnight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27632" y="2267712"/>
            <a:ext cx="1810512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83864" y="213055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01568" y="21762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99232" y="2578608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08960" y="276148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320"/>
                </a:solidFill>
              </a:rPr>
              <a:t>Bounded AI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3108960" y="311810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1 proposal: Black Leather Jacket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95344" y="2267712"/>
            <a:ext cx="1810512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751576" y="213055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69280" y="21762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66944" y="2578608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FFF6DF"/>
          </a:solidFill>
          <a:ln w="12700">
            <a:solidFill>
              <a:srgbClr val="FFF6D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76672" y="276148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320"/>
                </a:solidFill>
              </a:rPr>
              <a:t>Repeated 26x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376672" y="311810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0 additional model calls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63056" y="2267712"/>
            <a:ext cx="1810512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019288" y="2130552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936992" y="21762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34656" y="2578608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644384" y="276148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320"/>
                </a:solidFill>
              </a:rPr>
              <a:t>Human approval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7644384" y="311810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promote trusted alias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430768" y="2267712"/>
            <a:ext cx="1810512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287000" y="2130552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204704" y="21762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802368" y="2578608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EAFBF0"/>
          </a:solidFill>
          <a:ln w="12700">
            <a:solidFill>
              <a:srgbClr val="EAFB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912096" y="276148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320"/>
                </a:solidFill>
              </a:rPr>
              <a:t>Next invoice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9912096" y="3118104"/>
            <a:ext cx="140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44054"/>
                </a:solidFill>
              </a:rPr>
              <a:t>exact alias; 0 model calls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" y="4370832"/>
            <a:ext cx="10698480" cy="1426464"/>
          </a:xfrm>
          <a:prstGeom prst="roundRect">
            <a:avLst>
              <a:gd name="adj" fmla="val 5128"/>
            </a:avLst>
          </a:prstGeom>
          <a:solidFill>
            <a:srgbClr val="F8FBFE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60120" y="46177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3B82F6"/>
                </a:solidFill>
              </a:rPr>
              <a:t>Scalability rule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0120" y="48828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320"/>
                </a:solidFill>
              </a:rPr>
              <a:t>The model is called once per unique pending concept - not once per invoice row.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52360" y="46725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26 observations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1 proposal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81160" y="467258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after approval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0 future calls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0120" y="54223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This is the declining cost curve in operational form.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261872" cy="228600"/>
          </a:xfrm>
          <a:prstGeom prst="roundRect">
            <a:avLst>
              <a:gd name="adj" fmla="val 20000"/>
            </a:avLst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67005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FFFFFF"/>
                </a:solidFill>
              </a:rPr>
              <a:t>HUMAN LOOP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Humans approve knowledge - not invoices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weekly queue contains unique unresolved concepts with evidence, impact, and flexible actions.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44752"/>
            <a:ext cx="11045952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6642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B5CF6"/>
                </a:solidFill>
              </a:rPr>
              <a:t>PENDING KNOWLEDGE REVIEW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75320" y="159105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348472" y="1655064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8B5CF6"/>
                </a:solidFill>
              </a:rPr>
              <a:t>27 unique concepts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9738360" y="1591056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11512" y="1655064"/>
            <a:ext cx="1362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71,482 lines affected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Priority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856232" y="214884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Observed variants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690872" y="214884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Proposal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858000" y="214884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Score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973568" y="214884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LLM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8887968" y="214884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Occurrences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0104120" y="214884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Status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41248" y="2450592"/>
            <a:ext cx="10241280" cy="0"/>
          </a:xfrm>
          <a:prstGeom prst="line">
            <a:avLst/>
          </a:prstGeom>
          <a:noFill/>
          <a:ln w="12700">
            <a:solidFill>
              <a:srgbClr val="DCE4ED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8680" y="263347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41832" y="269748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EF4444"/>
                </a:solidFill>
              </a:rPr>
              <a:t>HIGH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1856232" y="2633472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Air Runner Pro Black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AirRunner Pro blk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690872" y="2670048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320"/>
                </a:solidFill>
              </a:rPr>
              <a:t>Performance Sneakers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0" y="267004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B82F6"/>
                </a:solidFill>
              </a:rPr>
              <a:t>98.2%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7973568" y="26700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Yes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887968" y="267004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320"/>
                </a:solidFill>
              </a:rPr>
              <a:t>18,400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10104120" y="2633472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EAFBF0"/>
          </a:solidFill>
          <a:ln w="12700">
            <a:solidFill>
              <a:srgbClr val="EAFB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177272" y="269748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approve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41248" y="3291840"/>
            <a:ext cx="10241280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68680" y="345643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41832" y="352044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EF4444"/>
                </a:solidFill>
              </a:rPr>
              <a:t>HIGH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1856232" y="3456432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Black Leather Jacket Midnight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4690872" y="3493008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320"/>
                </a:solidFill>
              </a:rPr>
              <a:t>Black Leather Jacket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0" y="349300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B82F6"/>
                </a:solidFill>
              </a:rPr>
              <a:t>73.0%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7973568" y="349300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Yes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887968" y="349300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320"/>
                </a:solidFill>
              </a:rPr>
              <a:t>26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10104120" y="3456432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177272" y="352044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waiting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41248" y="4114800"/>
            <a:ext cx="10241280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68680" y="427939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FFF6DF"/>
          </a:solidFill>
          <a:ln w="12700">
            <a:solidFill>
              <a:srgbClr val="FFF6D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41832" y="434340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59E0B"/>
                </a:solidFill>
              </a:rPr>
              <a:t>MED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1856232" y="4279392"/>
            <a:ext cx="2670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44054"/>
                </a:solidFill>
              </a:rPr>
              <a:t>Athletic crew socks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4690872" y="4315968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320"/>
                </a:solidFill>
              </a:rPr>
              <a:t>Crew Socks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58000" y="43159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B82F6"/>
                </a:solidFill>
              </a:rPr>
              <a:t>97.8%</a:t>
            </a:r>
            <a:endParaRPr lang="en-US" sz="940" dirty="0"/>
          </a:p>
        </p:txBody>
      </p:sp>
      <p:sp>
        <p:nvSpPr>
          <p:cNvPr id="45" name="Text 43"/>
          <p:cNvSpPr/>
          <p:nvPr/>
        </p:nvSpPr>
        <p:spPr>
          <a:xfrm>
            <a:off x="7973568" y="43159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22C55E"/>
                </a:solidFill>
              </a:rPr>
              <a:t>No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8887968" y="43159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320"/>
                </a:solidFill>
              </a:rPr>
              <a:t>127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10104120" y="4279392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177272" y="434340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waiting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41248" y="4937760"/>
            <a:ext cx="10241280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77824" y="5266944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Reviewer actions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103120" y="520293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EAFBF0"/>
          </a:solidFill>
          <a:ln w="12700">
            <a:solidFill>
              <a:srgbClr val="EAFB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176272" y="526694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2C55E"/>
                </a:solidFill>
              </a:rPr>
              <a:t>Approve existing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3538728" y="520293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611880" y="526694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B82F6"/>
                </a:solidFill>
              </a:rPr>
              <a:t>Redirect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4974336" y="520293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047488" y="526694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8B5CF6"/>
                </a:solidFill>
              </a:rPr>
              <a:t>Create new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6409944" y="520293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6DF"/>
          </a:solidFill>
          <a:ln w="12700">
            <a:solidFill>
              <a:srgbClr val="FFF6D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483096" y="526694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59E0B"/>
                </a:solidFill>
              </a:rPr>
              <a:t>Edit + approve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7845552" y="520293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918704" y="526694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F4444"/>
                </a:solidFill>
              </a:rPr>
              <a:t>Reject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9281160" y="520293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9354312" y="5266944"/>
            <a:ext cx="11338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67085"/>
                </a:solidFill>
              </a:rPr>
              <a:t>Defer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768096" y="6044184"/>
            <a:ext cx="10789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320"/>
                </a:solidFill>
              </a:rPr>
              <a:t>Completed decisions leave the active queue but remain archived + audited.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261872" cy="228600"/>
          </a:xfrm>
          <a:prstGeom prst="roundRect">
            <a:avLst>
              <a:gd name="adj" fmla="val 20000"/>
            </a:avLst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67005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FFFFFF"/>
                </a:solidFill>
              </a:rPr>
              <a:t>MULTI-CLIENT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Tenant taxonomies prevent cross-client collisions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raw string is not a global key: alias lookup is scoped by tenant + partner + language.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481328"/>
            <a:ext cx="3493008" cy="868680"/>
          </a:xfrm>
          <a:prstGeom prst="roundRect">
            <a:avLst>
              <a:gd name="adj" fmla="val 8421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99432" y="1664208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70" kern="0" dirty="0">
                <a:solidFill>
                  <a:srgbClr val="AAB8C8"/>
                </a:solidFill>
              </a:rPr>
              <a:t>RAW SUPPLIER TEXT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4599432" y="19202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“Steel Accessories”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" y="2834640"/>
            <a:ext cx="4407408" cy="2240280"/>
          </a:xfrm>
          <a:prstGeom prst="roundRect">
            <a:avLst>
              <a:gd name="adj" fmla="val 3265"/>
            </a:avLst>
          </a:prstGeom>
          <a:solidFill>
            <a:srgbClr val="E7FAFC"/>
          </a:solidFill>
          <a:ln w="12700">
            <a:solidFill>
              <a:srgbClr val="C7F0F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78992" y="3090672"/>
            <a:ext cx="1719072" cy="292608"/>
          </a:xfrm>
          <a:prstGeom prst="roundRect">
            <a:avLst>
              <a:gd name="adj" fmla="val 18750"/>
            </a:avLst>
          </a:prstGeom>
          <a:solidFill>
            <a:srgbClr val="D3F8FB"/>
          </a:solidFill>
          <a:ln w="12700">
            <a:solidFill>
              <a:srgbClr val="D3F8F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52144" y="3154680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2C7D6"/>
                </a:solidFill>
              </a:rPr>
              <a:t>TENANT A · testinger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078992" y="36393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Internal taxonomy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78992" y="39319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320"/>
                </a:solidFill>
              </a:rPr>
              <a:t>Highlife Components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78992" y="4526280"/>
            <a:ext cx="1527048" cy="292608"/>
          </a:xfrm>
          <a:prstGeom prst="roundRect">
            <a:avLst>
              <a:gd name="adj" fmla="val 18750"/>
            </a:avLst>
          </a:prstGeom>
          <a:solidFill>
            <a:srgbClr val="EAFBF0"/>
          </a:solidFill>
          <a:ln w="12700">
            <a:solidFill>
              <a:srgbClr val="EAFB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52144" y="4590288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2C55E"/>
                </a:solidFill>
              </a:rPr>
              <a:t>exact alias · no LLM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6967728" y="2834640"/>
            <a:ext cx="4407408" cy="2240280"/>
          </a:xfrm>
          <a:prstGeom prst="roundRect">
            <a:avLst>
              <a:gd name="adj" fmla="val 3265"/>
            </a:avLst>
          </a:prstGeom>
          <a:solidFill>
            <a:srgbClr val="F1ECFF"/>
          </a:solidFill>
          <a:ln w="12700">
            <a:solidFill>
              <a:srgbClr val="DED3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42048" y="3090672"/>
            <a:ext cx="1901952" cy="292608"/>
          </a:xfrm>
          <a:prstGeom prst="roundRect">
            <a:avLst>
              <a:gd name="adj" fmla="val 18750"/>
            </a:avLst>
          </a:prstGeom>
          <a:solidFill>
            <a:srgbClr val="E9E1FF"/>
          </a:solidFill>
          <a:ln w="12700">
            <a:solidFill>
              <a:srgbClr val="E9E1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0" y="3154680"/>
            <a:ext cx="17556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B5CF6"/>
                </a:solidFill>
              </a:rPr>
              <a:t>TENANT B · other-tenant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7242048" y="36393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Internal taxonomy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42048" y="39319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320"/>
                </a:solidFill>
              </a:rPr>
              <a:t>Maintenance Hardware Kit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242048" y="4526280"/>
            <a:ext cx="1527048" cy="292608"/>
          </a:xfrm>
          <a:prstGeom prst="roundRect">
            <a:avLst>
              <a:gd name="adj" fmla="val 18750"/>
            </a:avLst>
          </a:prstGeom>
          <a:solidFill>
            <a:srgbClr val="EAFBF0"/>
          </a:solidFill>
          <a:ln w="12700">
            <a:solidFill>
              <a:srgbClr val="EAFB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0" y="4590288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2C55E"/>
                </a:solidFill>
              </a:rPr>
              <a:t>exact alias · no LLM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089904" y="2340864"/>
            <a:ext cx="-3044952" cy="438912"/>
          </a:xfrm>
          <a:prstGeom prst="line">
            <a:avLst/>
          </a:prstGeom>
          <a:noFill/>
          <a:ln w="25400">
            <a:solidFill>
              <a:srgbClr val="22C7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89904" y="2340864"/>
            <a:ext cx="3063240" cy="438912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965960" y="5394960"/>
            <a:ext cx="8321040" cy="640080"/>
          </a:xfrm>
          <a:prstGeom prst="roundRect">
            <a:avLst>
              <a:gd name="adj" fmla="val 11429"/>
            </a:avLst>
          </a:prstGeom>
          <a:solidFill>
            <a:srgbClr val="F9FBFD"/>
          </a:solidFill>
          <a:ln w="12700">
            <a:solidFill>
              <a:srgbClr val="DCE4E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221992" y="5577840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4054"/>
                </a:solidFill>
              </a:rPr>
              <a:t>Uniqueness scope: tenant_id + partner_id + normalized_alias + language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57400" y="6117336"/>
            <a:ext cx="8183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Authentication binds the request to a tenant; PostgreSQL RLS is a second defense-in-depth layer.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261872" cy="228600"/>
          </a:xfrm>
          <a:prstGeom prst="roundRect">
            <a:avLst>
              <a:gd name="adj" fmla="val 20000"/>
            </a:avLst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67005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FFFFFF"/>
                </a:solidFill>
              </a:rPr>
              <a:t>SCOPE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solution vs. production packaging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avoids over-engineering the story: the business logic stays small; the rest is delivery discipline.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29000" cy="449884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7FAF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86384" y="1764792"/>
            <a:ext cx="2990088" cy="292608"/>
          </a:xfrm>
          <a:prstGeom prst="roundRect">
            <a:avLst>
              <a:gd name="adj" fmla="val 18750"/>
            </a:avLst>
          </a:prstGeom>
          <a:solidFill>
            <a:srgbClr val="E7FAFC"/>
          </a:solidFill>
          <a:ln w="12700">
            <a:solidFill>
              <a:srgbClr val="E7FAF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9536" y="1828800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C7D6"/>
                </a:solidFill>
              </a:rPr>
              <a:t>CORE BUSINESS LOGIC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905256" y="2450592"/>
            <a:ext cx="91440" cy="91440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2350008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canonical product IDs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905256" y="3008376"/>
            <a:ext cx="91440" cy="91440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2907792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tenant-scoped approved aliases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91440" cy="91440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97280" y="3465576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normalization + retrieval policy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905256" y="4123944"/>
            <a:ext cx="91440" cy="91440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402336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bounded AI for unknowns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905256" y="4681728"/>
            <a:ext cx="91440" cy="91440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4581144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human knowledge promotion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4379976" y="1481328"/>
            <a:ext cx="3429000" cy="449884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FF6D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99432" y="1764792"/>
            <a:ext cx="2990088" cy="292608"/>
          </a:xfrm>
          <a:prstGeom prst="roundRect">
            <a:avLst>
              <a:gd name="adj" fmla="val 18750"/>
            </a:avLst>
          </a:prstGeom>
          <a:solidFill>
            <a:srgbClr val="FFF6DF"/>
          </a:solidFill>
          <a:ln w="12700">
            <a:solidFill>
              <a:srgbClr val="FFF6D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72584" y="1828800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OPERATIONAL GUARDRAILS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718304" y="24505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10328" y="2350008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extraction arithmetic gate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4718304" y="30083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910328" y="2907792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auth + tenant binding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4718304" y="35661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910328" y="3465576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budgets / timeouts / retries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4718304" y="41239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910328" y="402336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validation + abstention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4718304" y="46817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910328" y="4581144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audit + monitoring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8193024" y="1481328"/>
            <a:ext cx="3429000" cy="449884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412480" y="1764792"/>
            <a:ext cx="2990088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485632" y="1828800"/>
            <a:ext cx="2843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8B5CF6"/>
                </a:solidFill>
              </a:rPr>
              <a:t>DELIVERY PRIMITIVES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531352" y="245059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723376" y="2350008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REST API</a:t>
            </a:r>
            <a:endParaRPr lang="en-US" sz="1230" dirty="0"/>
          </a:p>
        </p:txBody>
      </p:sp>
      <p:sp>
        <p:nvSpPr>
          <p:cNvPr id="37" name="Shape 35"/>
          <p:cNvSpPr/>
          <p:nvPr/>
        </p:nvSpPr>
        <p:spPr>
          <a:xfrm>
            <a:off x="8531352" y="300837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723376" y="2907792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MCP integration boundary</a:t>
            </a:r>
            <a:endParaRPr lang="en-US" sz="1230" dirty="0"/>
          </a:p>
        </p:txBody>
      </p:sp>
      <p:sp>
        <p:nvSpPr>
          <p:cNvPr id="39" name="Shape 37"/>
          <p:cNvSpPr/>
          <p:nvPr/>
        </p:nvSpPr>
        <p:spPr>
          <a:xfrm>
            <a:off x="8531352" y="35661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723376" y="3465576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Docker / Compose</a:t>
            </a:r>
            <a:endParaRPr lang="en-US" sz="1230" dirty="0"/>
          </a:p>
        </p:txBody>
      </p:sp>
      <p:sp>
        <p:nvSpPr>
          <p:cNvPr id="41" name="Shape 39"/>
          <p:cNvSpPr/>
          <p:nvPr/>
        </p:nvSpPr>
        <p:spPr>
          <a:xfrm>
            <a:off x="8531352" y="412394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723376" y="402336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GitHub CI/CD</a:t>
            </a:r>
            <a:endParaRPr lang="en-US" sz="1230" dirty="0"/>
          </a:p>
        </p:txBody>
      </p:sp>
      <p:sp>
        <p:nvSpPr>
          <p:cNvPr id="43" name="Shape 41"/>
          <p:cNvSpPr/>
          <p:nvPr/>
        </p:nvSpPr>
        <p:spPr>
          <a:xfrm>
            <a:off x="8531352" y="468172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723376" y="4581144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44054"/>
                </a:solidFill>
              </a:rPr>
              <a:t>PostgreSQL migrations</a:t>
            </a:r>
            <a:endParaRPr lang="en-US" sz="1230" dirty="0"/>
          </a:p>
        </p:txBody>
      </p:sp>
      <p:sp>
        <p:nvSpPr>
          <p:cNvPr id="45" name="Text 43"/>
          <p:cNvSpPr/>
          <p:nvPr/>
        </p:nvSpPr>
        <p:spPr>
          <a:xfrm>
            <a:off x="758952" y="6181344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320"/>
                </a:solidFill>
              </a:rPr>
              <a:t>Interview rule: lead with the first column. Use the other two only when asked how you would productionize it.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quality sequence - 18 machine-checked stages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detail: this is an implementation contract, not the primary business architecture.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554480"/>
            <a:ext cx="2542032" cy="446227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10512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FFF6DF"/>
          </a:solidFill>
          <a:ln w="12700">
            <a:solidFill>
              <a:srgbClr val="FFF6D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96112" y="187452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01-06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Input + evidence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" y="27340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60704" y="2660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auth + tenant binding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896112" y="320954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60704" y="3136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file validation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96112" y="36850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60704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deterministic parsing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96112" y="41605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60704" y="4087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Decimal line gate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96112" y="463600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60704" y="4562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model extraction fallback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96112" y="511149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60704" y="50383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persist invoice envelope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3456432" y="1554480"/>
            <a:ext cx="2542032" cy="446227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657600" y="1810512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E7FAFC"/>
          </a:solidFill>
          <a:ln w="12700">
            <a:solidFill>
              <a:srgbClr val="E7FAF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730752" y="187452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C7D6"/>
                </a:solidFill>
              </a:rPr>
              <a:t>07-10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657600" y="22677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Deterministic state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730752" y="2734056"/>
            <a:ext cx="73152" cy="73152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895344" y="2660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normalize text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3730752" y="3209544"/>
            <a:ext cx="73152" cy="73152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895344" y="3136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version-safe cache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3730752" y="3685032"/>
            <a:ext cx="73152" cy="73152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95344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approved exact alias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3730752" y="4160520"/>
            <a:ext cx="73152" cy="73152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895344" y="4087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atomic pending claim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291072" y="1554480"/>
            <a:ext cx="2542032" cy="446227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92240" y="1810512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65392" y="187452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B82F6"/>
                </a:solidFill>
              </a:rPr>
              <a:t>11-14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492240" y="22677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Uncertainty handling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65392" y="273405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729984" y="2660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approved-only retrieval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6565392" y="320954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729984" y="3136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policy scoring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565392" y="368503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729984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bounded generation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6565392" y="416052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29984" y="4087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output/security validation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9125712" y="1554480"/>
            <a:ext cx="2542032" cy="446227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326880" y="1810512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400032" y="187452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8B5CF6"/>
                </a:solidFill>
              </a:rPr>
              <a:t>15-18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9326880" y="22677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Governance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400032" y="273405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564624" y="2660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staged review queue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9400032" y="320954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9564624" y="3136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human action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9400032" y="368503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9564624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knowledge promotion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9400032" y="416052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9564624" y="4087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44054"/>
                </a:solidFill>
              </a:rPr>
              <a:t>audit + metrics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strategy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determinism for CI; live-provider evaluation remains opt-in.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45952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465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Layer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971800" y="174650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What it proves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52360" y="17465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Property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215798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320"/>
                </a:solidFill>
              </a:rPr>
              <a:t>Unit / contracts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971800" y="215798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44054"/>
                </a:solidFill>
              </a:rPr>
              <a:t>normalization, money, budgets, prompt schemas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7452360" y="2130552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25512" y="2194560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B82F6"/>
                </a:solidFill>
              </a:rPr>
              <a:t>fast / deterministic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10168128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1248" y="26609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320"/>
                </a:solidFill>
              </a:rPr>
              <a:t>Integration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971800" y="266090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44054"/>
                </a:solidFill>
              </a:rPr>
              <a:t>repository, canonicalization, review promotion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7452360" y="2633472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525512" y="2697480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B82F6"/>
                </a:solidFill>
              </a:rPr>
              <a:t>real application wiring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822960" y="3017520"/>
            <a:ext cx="10168128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" y="316382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320"/>
                </a:solidFill>
              </a:rPr>
              <a:t>Document metamorphic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2971800" y="316382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44054"/>
                </a:solidFill>
              </a:rPr>
              <a:t>PDF / XLSX / DOCX / JSON / CSV / TXT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452360" y="3136392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25512" y="3200400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B82F6"/>
                </a:solidFill>
              </a:rPr>
              <a:t>same business result across formats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22960" y="3520440"/>
            <a:ext cx="10168128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" y="36667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320"/>
                </a:solidFill>
              </a:rPr>
              <a:t>AI fixtures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2971800" y="366674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44054"/>
                </a:solidFill>
              </a:rPr>
              <a:t>stored prompt examples + model outputs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7452360" y="3639312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25512" y="3703320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8B5CF6"/>
                </a:solidFill>
              </a:rPr>
              <a:t>no API-spend CI, stable regressions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22960" y="4023360"/>
            <a:ext cx="10168128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41248" y="416966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320"/>
                </a:solidFill>
              </a:rPr>
              <a:t>Adversarial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2971800" y="416966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44054"/>
                </a:solidFill>
              </a:rPr>
              <a:t>prompt injection, PII/financial leakage, cross-tenant, malformed output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452360" y="4142232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525512" y="4206240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F4444"/>
                </a:solidFill>
              </a:rPr>
              <a:t>safe failure / abstention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822960" y="4526280"/>
            <a:ext cx="10168128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1248" y="467258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320"/>
                </a:solidFill>
              </a:rPr>
              <a:t>Concurrency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2971800" y="467258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44054"/>
                </a:solidFill>
              </a:rPr>
              <a:t>same unknown arriving simultaneously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7452360" y="4645152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25512" y="4709160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B82F6"/>
                </a:solidFill>
              </a:rPr>
              <a:t>one candidate / one proposal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822960" y="5029200"/>
            <a:ext cx="10168128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41248" y="51755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320"/>
                </a:solidFill>
              </a:rPr>
              <a:t>Packaging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2971800" y="517550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44054"/>
                </a:solidFill>
              </a:rPr>
              <a:t>wheel build + isolated install smoke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7452360" y="5148072"/>
            <a:ext cx="297180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525512" y="5212080"/>
            <a:ext cx="2825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B82F6"/>
                </a:solidFill>
              </a:rPr>
              <a:t>delivery integrity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822960" y="5532120"/>
            <a:ext cx="10168128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86384" y="6181344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0"/>
                </a:solidFill>
              </a:rPr>
              <a:t>Current verified gate: 107 tests passed · 83% branch-aware coverage · 11 curated routing cases all correct.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reliability, and cost guardrails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protect the product logic; they do not decide the canonical product.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246120" cy="4407408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DECE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5528" y="1810512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74520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F4444"/>
                </a:solidFill>
              </a:rPr>
              <a:t>SECURITY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854964" y="254660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42416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tenant-bound auth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854964" y="3104388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2416" y="3008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PostgreSQL RLS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854964" y="3662172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2416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party PII kept out of prompts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54964" y="4219956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2416" y="4123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prompt-injection guard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54964" y="4777740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42416" y="4681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CSV formula neutralization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160520" y="1536192"/>
            <a:ext cx="3246120" cy="4407408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FF6D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389120" y="1810512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FFF6DF"/>
          </a:solidFill>
          <a:ln w="12700">
            <a:solidFill>
              <a:srgbClr val="FFF6D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62272" y="1874520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59E0B"/>
                </a:solidFill>
              </a:rPr>
              <a:t>RELIABILITY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448556" y="25466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36008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Decimal financial fields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4448556" y="31043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636008" y="3008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line arithmetic gate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4448556" y="366217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36008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commercial reconciliation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4448556" y="421995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36008" y="4123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schema + attribute validation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4448556" y="477774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636008" y="4681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immutable audit history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7754112" y="1536192"/>
            <a:ext cx="3246120" cy="4407408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AFB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982712" y="1810512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EAFBF0"/>
          </a:solidFill>
          <a:ln w="12700">
            <a:solidFill>
              <a:srgbClr val="EAFB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055864" y="1874520"/>
            <a:ext cx="1115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2C55E"/>
                </a:solidFill>
              </a:rPr>
              <a:t>COST / LATENCY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8042148" y="254660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22960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exact alias before retrieval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8042148" y="310438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0" y="3008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dedupe before model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8042148" y="366217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22960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max calls + dollar budget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8042148" y="4219956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229600" y="4123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timeouts + bounded retries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8042148" y="477774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229600" y="4681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</a:rPr>
              <a:t>cache by taxonomy version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/ RAG boundary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simplest retrieval method that meets false-match, latency, and recall targets.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13892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5E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1764792"/>
            <a:ext cx="1536192" cy="292608"/>
          </a:xfrm>
          <a:prstGeom prst="roundRect">
            <a:avLst>
              <a:gd name="adj" fmla="val 18750"/>
            </a:avLst>
          </a:prstGeom>
          <a:solidFill>
            <a:srgbClr val="E7FAFC"/>
          </a:solidFill>
          <a:ln w="12700">
            <a:solidFill>
              <a:srgbClr val="E7FA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28800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2C7D6"/>
                </a:solidFill>
              </a:rPr>
              <a:t>CURRENT ASSESSMENT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900684" y="247345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33272" y="239572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approved aliases only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900684" y="2948940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33272" y="2871216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sequence similarity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00684" y="3424428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33272" y="3346704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token overlap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00684" y="3899916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33272" y="3822192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character trigrams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900684" y="437540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33272" y="4297680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category + protected attributes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00684" y="485089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33272" y="477316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margin vs. second candidate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998464" y="1481328"/>
            <a:ext cx="5614416" cy="4434840"/>
          </a:xfrm>
          <a:prstGeom prst="roundRect">
            <a:avLst>
              <a:gd name="adj" fmla="val 1649"/>
            </a:avLst>
          </a:prstGeom>
          <a:solidFill>
            <a:srgbClr val="F6F2FF"/>
          </a:solidFill>
          <a:ln w="12700">
            <a:solidFill>
              <a:srgbClr val="DDD2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91072" y="1764792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64224" y="1828800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5CF6"/>
                </a:solidFill>
              </a:rPr>
              <a:t>SCALE-UP OPTION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341364" y="247345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73952" y="239572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SemanticScoreProvider interface exists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341364" y="2994660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73952" y="291693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PostgreSQL schema is pgvector-ready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341364" y="3515868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73952" y="3438144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benchmark Recall@K + false match first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341364" y="4037076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73952" y="3959352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measure latency + memory before enabling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341364" y="455828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73952" y="448056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do not index unapproved model suggestions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1572768" y="5559552"/>
            <a:ext cx="9052560" cy="594360"/>
          </a:xfrm>
          <a:prstGeom prst="roundRect">
            <a:avLst>
              <a:gd name="adj" fmla="val 12308"/>
            </a:avLst>
          </a:prstGeom>
          <a:solidFill>
            <a:srgbClr val="FDECEC"/>
          </a:solidFill>
          <a:ln w="12700">
            <a:solidFill>
              <a:srgbClr val="F4CBC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828800" y="5742432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F4444"/>
                </a:solidFill>
              </a:rPr>
              <a:t>Anti-feedback-loop rule: staging data never becomes retrieval evidence until a human promotes it.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data model and state transitions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CSV is an editable projection; production persistence is relational.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950208" cy="449884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739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Candidate record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1540" y="2345436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24128" y="226771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normalized candidate key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891540" y="2784348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4128" y="270662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source variants + occurrence count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891540" y="3223260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24128" y="314553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affected value by currency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91540" y="366217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24128" y="358444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retrieval / policy scores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91540" y="410108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24128" y="402336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model + prompt provenance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891540" y="4539996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24128" y="44622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risk flags + evidence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891540" y="4978908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24128" y="4901184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</a:rPr>
              <a:t>human overrides + notes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4828032" y="1481328"/>
            <a:ext cx="6784848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38928" y="17739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Human-editable final status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138928" y="2295144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12080" y="2359152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waiting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36408" y="2295144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EAFBF0"/>
          </a:solidFill>
          <a:ln w="12700">
            <a:solidFill>
              <a:srgbClr val="EAFB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909560" y="2359152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approve existing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38928" y="2953512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0" y="3017520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redirect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36408" y="2953512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E7FAFC"/>
          </a:solidFill>
          <a:ln w="12700">
            <a:solidFill>
              <a:srgbClr val="E7FAF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909560" y="3017520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7D6"/>
                </a:solidFill>
              </a:rPr>
              <a:t>create new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38928" y="3611880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FFF6DF"/>
          </a:solidFill>
          <a:ln w="12700">
            <a:solidFill>
              <a:srgbClr val="FFF6D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212080" y="3675888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edit + approve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836408" y="3611880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909560" y="3675888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reject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38928" y="4270248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12080" y="4334256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defer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38928" y="51389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344054"/>
                </a:solidFill>
              </a:rPr>
              <a:t>Processed rows leave the active work queue but remain in archive + audit history.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5138928" y="5541264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Concurrency: one active candidate per tenant + partner + normalized description.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next validation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still needs evidence before a real production rollout.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45952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373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Area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79776" y="173736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Current evidence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77456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Next validation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13969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320"/>
                </a:solidFill>
              </a:rPr>
              <a:t>Production accuracy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2779776" y="213969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11 curated cases are regression evidence, not population statistics</a:t>
            </a:r>
            <a:endParaRPr lang="en-US" sz="910" dirty="0"/>
          </a:p>
        </p:txBody>
      </p:sp>
      <p:sp>
        <p:nvSpPr>
          <p:cNvPr id="10" name="Text 8"/>
          <p:cNvSpPr/>
          <p:nvPr/>
        </p:nvSpPr>
        <p:spPr>
          <a:xfrm>
            <a:off x="7077456" y="2139696"/>
            <a:ext cx="3840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Build a blind labelled dataset across clients/categories/languages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822960" y="2606040"/>
            <a:ext cx="10058400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76148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320"/>
                </a:solidFill>
              </a:rPr>
              <a:t>Threshold calibration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779776" y="2761488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current thresholds are configuration, not statistically calibrated probabilities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7077456" y="2761488"/>
            <a:ext cx="3840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Optimize to a business target such as false auto-resolution &lt; 0.1%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822960" y="3227832"/>
            <a:ext cx="10058400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3832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320"/>
                </a:solidFill>
              </a:rPr>
              <a:t>Live provider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2779776" y="3383280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offline fixtures prove contracts but not real latency/cost/drift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7077456" y="3383280"/>
            <a:ext cx="3840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Run controlled live evaluation with approved model + pricing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822960" y="3849624"/>
            <a:ext cx="10058400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00507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320"/>
                </a:solidFill>
              </a:rPr>
              <a:t>Semantic retrieval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779776" y="4005072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pgvector seam exists but is not benchmarked as better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7077456" y="4005072"/>
            <a:ext cx="3840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Compare Recall@K / latency / false-match against lexical hybrid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822960" y="4471416"/>
            <a:ext cx="10058400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462686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320"/>
                </a:solidFill>
              </a:rPr>
              <a:t>Release environment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779776" y="4626864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Ruff, mypy, Docker skipped in sandbox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7077456" y="4626864"/>
            <a:ext cx="3840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Run make assess-full in CI / local Docker environment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822960" y="5093208"/>
            <a:ext cx="10058400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22960" y="52486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320"/>
                </a:solidFill>
              </a:rPr>
              <a:t>Operational UX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2779776" y="52486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CSV proves workflow but is not a polished reviewer product</a:t>
            </a:r>
            <a:endParaRPr lang="en-US" sz="910" dirty="0"/>
          </a:p>
        </p:txBody>
      </p:sp>
      <p:sp>
        <p:nvSpPr>
          <p:cNvPr id="30" name="Text 28"/>
          <p:cNvSpPr/>
          <p:nvPr/>
        </p:nvSpPr>
        <p:spPr>
          <a:xfrm>
            <a:off x="7077456" y="5248656"/>
            <a:ext cx="3840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44054"/>
                </a:solidFill>
              </a:rPr>
              <a:t>Replace with dashboard when reviewer volume justifies it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822960" y="5715000"/>
            <a:ext cx="10058400" cy="0"/>
          </a:xfrm>
          <a:prstGeom prst="line">
            <a:avLst/>
          </a:prstGeom>
          <a:noFill/>
          <a:ln w="10160">
            <a:solidFill>
              <a:srgbClr val="EDF1F5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27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and demo commands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needed to inspect, test, demonstrate, and package the solution.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6510528" cy="4480560"/>
          </a:xfrm>
          <a:prstGeom prst="roundRect">
            <a:avLst>
              <a:gd name="adj" fmla="val 1633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59536" y="18105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DE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./run_assessment.sh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18688" y="179222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</a:rPr>
              <a:t>Offline quality gate: tests, coverage, evaluation, package smoke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59536" y="2560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DE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interview-demo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18688" y="25420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</a:rPr>
              <a:t>Three-tier lifecycle demonstration + machine-readable evidence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33101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DE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review-demo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18688" y="32918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</a:rPr>
              <a:t>Generate the editable pending-knowledge CSV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9536" y="40599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DE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review-process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18688" y="40416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</a:rPr>
              <a:t>Apply reviewer decisions, archive completed items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9536" y="48097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8DE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assess-full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18688" y="47914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4DDE8"/>
                </a:solidFill>
              </a:rPr>
              <a:t>Strict release gate including Ruff, mypy, Docker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33488" y="1481328"/>
            <a:ext cx="4279392" cy="448056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626096" y="1810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Assessor-facing artifacts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76388" y="238201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08976" y="2304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README.md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76388" y="286664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08976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docs/assessor_summary.md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76388" y="3351276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808976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docs/invoice_data_model.md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76388" y="3835908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808976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reports/final_delivery_check.md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76388" y="4320540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808976" y="4242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docs/verified_results.md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76388" y="4805172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808976" y="4727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docs/production_validation_plan.md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76388" y="5289804"/>
            <a:ext cx="64008" cy="64008"/>
          </a:xfrm>
          <a:prstGeom prst="ellipse">
            <a:avLst/>
          </a:prstGeom>
          <a:solidFill>
            <a:srgbClr val="22C7D6"/>
          </a:solidFill>
          <a:ln w="12700">
            <a:solidFill>
              <a:srgbClr val="22C7D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808976" y="5212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</a:rPr>
              <a:t>presentation/PPTX + PDF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26096" y="5550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Version 1.0.0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51052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2A2"/>
                </a:solidFill>
              </a:defRPr>
            </a:lvl1pPr>
          </a:lstStyle>
          <a:p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Canonicalization Agent</dc:title>
  <dc:subject>Invoice Canonicalization Agent - AI Engineering Assessment</dc:subject>
  <dc:creator>OpenAI</dc:creator>
  <cp:lastModifiedBy>OpenAI</cp:lastModifiedBy>
  <cp:revision>1</cp:revision>
  <dcterms:created xsi:type="dcterms:W3CDTF">2026-08-07T10:25:41Z</dcterms:created>
  <dcterms:modified xsi:type="dcterms:W3CDTF">2026-08-07T10:25:41Z</dcterms:modified>
</cp:coreProperties>
</file>